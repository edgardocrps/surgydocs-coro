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1"/>
    <p:sldId id="264" r:id="rId15"/>
    <p:sldId id="267" r:id="rId20"/>
    <p:sldId id="268" r:id="rId21"/>
  </p:sldIdLst>
  <p:sldSz cx="18288000" cy="10287000"/>
  <p:notesSz cx="6858000" cy="9144000"/>
  <p:embeddedFontLst>
    <p:embeddedFont>
      <p:font typeface="Adirek Sans Medium" panose="020B0604020202020204" charset="-34"/>
      <p:regular r:id="rId23"/>
    </p:embeddedFont>
    <p:embeddedFont>
      <p:font typeface="Codec Pro" panose="020B0604020202020204" charset="0"/>
      <p:regular r:id="rId24"/>
    </p:embeddedFont>
    <p:embeddedFont>
      <p:font typeface="Codec Pro Bold" panose="020B0604020202020204" charset="0"/>
      <p:regular r:id="rId25"/>
    </p:embeddedFont>
    <p:embeddedFont>
      <p:font typeface="Inter Bold" panose="020B0604020202020204" charset="0"/>
      <p:regular r:id="rId26"/>
    </p:embeddedFont>
    <p:embeddedFont>
      <p:font typeface="Raleway Bold" panose="020B0604020202020204" charset="0"/>
      <p:regular r:id="rId27"/>
    </p:embeddedFont>
    <p:embeddedFont>
      <p:font typeface="Raleway Semi-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AE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8501C-2513-4441-8AA6-B6E77FB8DD09}" type="datetimeFigureOut">
              <a:rPr lang="es-VE" smtClean="0"/>
              <a:t>25/6/2026</a:t>
            </a:fld>
            <a:endParaRPr lang="es-V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B1766-C59D-44A0-9D65-4B7B1B1F16B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6724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portada_tiroides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8832" y="1028700"/>
            <a:ext cx="8063150" cy="1603974"/>
            <a:chOff x="0" y="0"/>
            <a:chExt cx="2073212" cy="4124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3212" cy="412417"/>
            </a:xfrm>
            <a:custGeom>
              <a:avLst/>
              <a:gdLst/>
              <a:ahLst/>
              <a:cxnLst/>
              <a:rect l="l" t="t" r="r" b="b"/>
              <a:pathLst>
                <a:path w="2073212" h="412417">
                  <a:moveTo>
                    <a:pt x="48968" y="0"/>
                  </a:moveTo>
                  <a:lnTo>
                    <a:pt x="2024244" y="0"/>
                  </a:lnTo>
                  <a:cubicBezTo>
                    <a:pt x="2051288" y="0"/>
                    <a:pt x="2073212" y="21924"/>
                    <a:pt x="2073212" y="48968"/>
                  </a:cubicBezTo>
                  <a:lnTo>
                    <a:pt x="2073212" y="363449"/>
                  </a:lnTo>
                  <a:cubicBezTo>
                    <a:pt x="2073212" y="390493"/>
                    <a:pt x="2051288" y="412417"/>
                    <a:pt x="2024244" y="412417"/>
                  </a:cubicBezTo>
                  <a:lnTo>
                    <a:pt x="48968" y="412417"/>
                  </a:lnTo>
                  <a:cubicBezTo>
                    <a:pt x="21924" y="412417"/>
                    <a:pt x="0" y="390493"/>
                    <a:pt x="0" y="363449"/>
                  </a:cubicBezTo>
                  <a:lnTo>
                    <a:pt x="0" y="48968"/>
                  </a:lnTo>
                  <a:cubicBezTo>
                    <a:pt x="0" y="21924"/>
                    <a:pt x="21924" y="0"/>
                    <a:pt x="4896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73212" cy="450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557908" y="1028700"/>
            <a:ext cx="4366468" cy="1694721"/>
          </a:xfrm>
          <a:custGeom>
            <a:avLst/>
            <a:gdLst/>
            <a:ahLst/>
            <a:cxnLst/>
            <a:rect l="l" t="t" r="r" b="b"/>
            <a:pathLst>
              <a:path w="4366468" h="1694721">
                <a:moveTo>
                  <a:pt x="0" y="0"/>
                </a:moveTo>
                <a:lnTo>
                  <a:pt x="4366467" y="0"/>
                </a:lnTo>
                <a:lnTo>
                  <a:pt x="4366467" y="1694721"/>
                </a:lnTo>
                <a:lnTo>
                  <a:pt x="0" y="1694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28"/>
            </a:stretch>
          </a:blipFill>
        </p:spPr>
        <p:txBody>
          <a:bodyPr/>
          <a:lstStyle/>
          <a:p>
            <a:endParaRPr lang="es-VE"/>
          </a:p>
        </p:txBody>
      </p:sp>
      <p:sp>
        <p:nvSpPr>
          <p:cNvPr id="7" name="Freeform 7"/>
          <p:cNvSpPr/>
          <p:nvPr/>
        </p:nvSpPr>
        <p:spPr>
          <a:xfrm>
            <a:off x="13924375" y="1061307"/>
            <a:ext cx="1364467" cy="1538760"/>
          </a:xfrm>
          <a:custGeom>
            <a:avLst/>
            <a:gdLst/>
            <a:ahLst/>
            <a:cxnLst/>
            <a:rect l="l" t="t" r="r" b="b"/>
            <a:pathLst>
              <a:path w="1364467" h="1538760">
                <a:moveTo>
                  <a:pt x="0" y="0"/>
                </a:moveTo>
                <a:lnTo>
                  <a:pt x="1364467" y="0"/>
                </a:lnTo>
                <a:lnTo>
                  <a:pt x="1364467" y="1538760"/>
                </a:lnTo>
                <a:lnTo>
                  <a:pt x="0" y="1538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VE"/>
          </a:p>
        </p:txBody>
      </p:sp>
      <p:sp>
        <p:nvSpPr>
          <p:cNvPr id="8" name="Freeform 8"/>
          <p:cNvSpPr/>
          <p:nvPr/>
        </p:nvSpPr>
        <p:spPr>
          <a:xfrm>
            <a:off x="15563309" y="1384922"/>
            <a:ext cx="1180177" cy="988398"/>
          </a:xfrm>
          <a:custGeom>
            <a:avLst/>
            <a:gdLst/>
            <a:ahLst/>
            <a:cxnLst/>
            <a:rect l="l" t="t" r="r" b="b"/>
            <a:pathLst>
              <a:path w="1180177" h="988398">
                <a:moveTo>
                  <a:pt x="0" y="0"/>
                </a:moveTo>
                <a:lnTo>
                  <a:pt x="1180177" y="0"/>
                </a:lnTo>
                <a:lnTo>
                  <a:pt x="1180177" y="988398"/>
                </a:lnTo>
                <a:lnTo>
                  <a:pt x="0" y="98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VE"/>
          </a:p>
        </p:txBody>
      </p:sp>
      <p:sp>
        <p:nvSpPr>
          <p:cNvPr id="9" name="TextBox 9"/>
          <p:cNvSpPr txBox="1"/>
          <p:nvPr/>
        </p:nvSpPr>
        <p:spPr>
          <a:xfrm>
            <a:off x="1302488" y="3884214"/>
            <a:ext cx="7103691" cy="358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179"/>
              </a:lnSpc>
            </a:pPr>
            <a:r>
              <a:rPr lang="en-US" sz="9978" b="1" spc="-458">
                <a:solidFill>
                  <a:srgbClr val="156669"/>
                </a:solidFill>
                <a:latin typeface="Raleway Bold"/>
                <a:ea typeface="Raleway Bold"/>
                <a:cs typeface="Raleway Bold"/>
                <a:sym typeface="Raleway Bold"/>
              </a:rPr>
              <a:t>DISCUSIÓN DE CASO CLINICO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442072"/>
            <a:ext cx="7651266" cy="834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2399" b="1" spc="-110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HOSPITAL UNIVERSITARIO DR. ALFREDO VAN GRIEKEN</a:t>
            </a:r>
          </a:p>
          <a:p>
            <a:pPr marL="0" lvl="1" indent="0" algn="ctr">
              <a:lnSpc>
                <a:spcPts val="2159"/>
              </a:lnSpc>
            </a:pPr>
            <a:r>
              <a:rPr lang="en-US" sz="2399" b="1" spc="-110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SERVICIO DE CIRUGIA GENERAL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0112" y="9243265"/>
            <a:ext cx="4912440" cy="35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dirty="0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PUNTO FIJO, JUNIO 2026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3C05E55-3F55-C167-5799-310BD54C2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86516" y="2689825"/>
            <a:ext cx="12875717" cy="7217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4060" y="1622334"/>
            <a:ext cx="12359880" cy="7042332"/>
            <a:chOff x="0" y="0"/>
            <a:chExt cx="5022257" cy="28615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2257" cy="2861549"/>
            </a:xfrm>
            <a:custGeom>
              <a:avLst/>
              <a:gdLst/>
              <a:ahLst/>
              <a:cxnLst/>
              <a:rect l="l" t="t" r="r" b="b"/>
              <a:pathLst>
                <a:path w="5022257" h="2861549">
                  <a:moveTo>
                    <a:pt x="23802" y="0"/>
                  </a:moveTo>
                  <a:lnTo>
                    <a:pt x="4998454" y="0"/>
                  </a:lnTo>
                  <a:cubicBezTo>
                    <a:pt x="5011600" y="0"/>
                    <a:pt x="5022257" y="10657"/>
                    <a:pt x="5022257" y="23802"/>
                  </a:cubicBezTo>
                  <a:lnTo>
                    <a:pt x="5022257" y="2837747"/>
                  </a:lnTo>
                  <a:cubicBezTo>
                    <a:pt x="5022257" y="2850892"/>
                    <a:pt x="5011600" y="2861549"/>
                    <a:pt x="4998454" y="2861549"/>
                  </a:cubicBezTo>
                  <a:lnTo>
                    <a:pt x="23802" y="2861549"/>
                  </a:lnTo>
                  <a:cubicBezTo>
                    <a:pt x="10657" y="2861549"/>
                    <a:pt x="0" y="2850892"/>
                    <a:pt x="0" y="2837747"/>
                  </a:cubicBezTo>
                  <a:lnTo>
                    <a:pt x="0" y="23802"/>
                  </a:lnTo>
                  <a:cubicBezTo>
                    <a:pt x="0" y="10657"/>
                    <a:pt x="10657" y="0"/>
                    <a:pt x="23802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022257" cy="2890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02968" y="2031405"/>
            <a:ext cx="11482064" cy="6224191"/>
            <a:chOff x="0" y="0"/>
            <a:chExt cx="4665569" cy="25291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65569" cy="2529109"/>
            </a:xfrm>
            <a:custGeom>
              <a:avLst/>
              <a:gdLst/>
              <a:ahLst/>
              <a:cxnLst/>
              <a:rect l="l" t="t" r="r" b="b"/>
              <a:pathLst>
                <a:path w="4665569" h="2529109">
                  <a:moveTo>
                    <a:pt x="14834" y="0"/>
                  </a:moveTo>
                  <a:lnTo>
                    <a:pt x="4650736" y="0"/>
                  </a:lnTo>
                  <a:cubicBezTo>
                    <a:pt x="4658928" y="0"/>
                    <a:pt x="4665569" y="6641"/>
                    <a:pt x="4665569" y="14834"/>
                  </a:cubicBezTo>
                  <a:lnTo>
                    <a:pt x="4665569" y="2514275"/>
                  </a:lnTo>
                  <a:cubicBezTo>
                    <a:pt x="4665569" y="2522468"/>
                    <a:pt x="4658928" y="2529109"/>
                    <a:pt x="4650736" y="2529109"/>
                  </a:cubicBezTo>
                  <a:lnTo>
                    <a:pt x="14834" y="2529109"/>
                  </a:lnTo>
                  <a:cubicBezTo>
                    <a:pt x="6641" y="2529109"/>
                    <a:pt x="0" y="2522468"/>
                    <a:pt x="0" y="2514275"/>
                  </a:cubicBezTo>
                  <a:lnTo>
                    <a:pt x="0" y="14834"/>
                  </a:lnTo>
                  <a:cubicBezTo>
                    <a:pt x="0" y="6641"/>
                    <a:pt x="6641" y="0"/>
                    <a:pt x="14834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665569" cy="2557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38175" y="3058453"/>
            <a:ext cx="841164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39"/>
              </a:lnSpc>
            </a:pPr>
            <a:r>
              <a:rPr lang="en-US" sz="6999" b="1" spc="-321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DATOS FILIATORIOS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48645" y="4195551"/>
            <a:ext cx="8301180" cy="2768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1612" lvl="1" indent="-395806" algn="l">
              <a:lnSpc>
                <a:spcPts val="4729"/>
              </a:lnSpc>
              <a:buFont typeface="Arial"/>
              <a:buChar char="•"/>
            </a:pP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PACIENTE: X.X.X</a:t>
            </a:r>
          </a:p>
          <a:p>
            <a:pPr marL="791612" lvl="1" indent="-395806" algn="l">
              <a:lnSpc>
                <a:spcPts val="4729"/>
              </a:lnSpc>
              <a:buFont typeface="Arial"/>
              <a:buChar char="•"/>
            </a:pP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EDAD: 61 AÑOS</a:t>
            </a:r>
          </a:p>
          <a:p>
            <a:pPr marL="791612" lvl="1" indent="-395806" algn="l">
              <a:lnSpc>
                <a:spcPts val="4729"/>
              </a:lnSpc>
              <a:buFont typeface="Arial"/>
              <a:buChar char="•"/>
            </a:pP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SEXO: FEMENINA</a:t>
            </a:r>
          </a:p>
          <a:p>
            <a:pPr marL="791612" lvl="1" indent="-395806" algn="l">
              <a:lnSpc>
                <a:spcPts val="4729"/>
              </a:lnSpc>
              <a:buFont typeface="Arial"/>
              <a:buChar char="•"/>
            </a:pP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NH: </a:t>
            </a:r>
            <a:r>
              <a:rPr lang="en-US" sz="3666" b="1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00</a:t>
            </a: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-00-00</a:t>
            </a:r>
          </a:p>
          <a:p>
            <a:pPr marL="0" lvl="0" indent="0" algn="ctr">
              <a:lnSpc>
                <a:spcPts val="2536"/>
              </a:lnSpc>
            </a:pPr>
            <a:endParaRPr lang="en-US" sz="3666" b="1" u="none" spc="-29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1323" y="342901"/>
            <a:ext cx="15665966" cy="1954028"/>
            <a:chOff x="0" y="0"/>
            <a:chExt cx="4126016" cy="28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26016" cy="288715"/>
            </a:xfrm>
            <a:custGeom>
              <a:avLst/>
              <a:gdLst/>
              <a:ahLst/>
              <a:cxnLst/>
              <a:rect l="l" t="t" r="r" b="b"/>
              <a:pathLst>
                <a:path w="4126016" h="288715">
                  <a:moveTo>
                    <a:pt x="25204" y="0"/>
                  </a:moveTo>
                  <a:lnTo>
                    <a:pt x="4100812" y="0"/>
                  </a:lnTo>
                  <a:cubicBezTo>
                    <a:pt x="4107497" y="0"/>
                    <a:pt x="4113907" y="2655"/>
                    <a:pt x="4118633" y="7382"/>
                  </a:cubicBezTo>
                  <a:cubicBezTo>
                    <a:pt x="4123360" y="12109"/>
                    <a:pt x="4126016" y="18519"/>
                    <a:pt x="4126016" y="25204"/>
                  </a:cubicBezTo>
                  <a:lnTo>
                    <a:pt x="4126016" y="263512"/>
                  </a:lnTo>
                  <a:cubicBezTo>
                    <a:pt x="4126016" y="277431"/>
                    <a:pt x="4114731" y="288715"/>
                    <a:pt x="4100812" y="288715"/>
                  </a:cubicBezTo>
                  <a:lnTo>
                    <a:pt x="25204" y="288715"/>
                  </a:lnTo>
                  <a:cubicBezTo>
                    <a:pt x="18519" y="288715"/>
                    <a:pt x="12109" y="286060"/>
                    <a:pt x="7382" y="281333"/>
                  </a:cubicBezTo>
                  <a:cubicBezTo>
                    <a:pt x="2655" y="276607"/>
                    <a:pt x="0" y="270196"/>
                    <a:pt x="0" y="263512"/>
                  </a:cubicBezTo>
                  <a:lnTo>
                    <a:pt x="0" y="25204"/>
                  </a:lnTo>
                  <a:cubicBezTo>
                    <a:pt x="0" y="11284"/>
                    <a:pt x="11284" y="0"/>
                    <a:pt x="25204" y="0"/>
                  </a:cubicBezTo>
                  <a:close/>
                </a:path>
              </a:pathLst>
            </a:custGeom>
            <a:solidFill>
              <a:srgbClr val="C3DCEF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26016" cy="32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1323" y="2933700"/>
            <a:ext cx="15857977" cy="6653075"/>
            <a:chOff x="0" y="0"/>
            <a:chExt cx="4176586" cy="14919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76587" cy="1491957"/>
            </a:xfrm>
            <a:custGeom>
              <a:avLst/>
              <a:gdLst/>
              <a:ahLst/>
              <a:cxnLst/>
              <a:rect l="l" t="t" r="r" b="b"/>
              <a:pathLst>
                <a:path w="4176587" h="1491957">
                  <a:moveTo>
                    <a:pt x="24898" y="0"/>
                  </a:moveTo>
                  <a:lnTo>
                    <a:pt x="4151688" y="0"/>
                  </a:lnTo>
                  <a:cubicBezTo>
                    <a:pt x="4165439" y="0"/>
                    <a:pt x="4176587" y="11147"/>
                    <a:pt x="4176587" y="24898"/>
                  </a:cubicBezTo>
                  <a:lnTo>
                    <a:pt x="4176587" y="1467059"/>
                  </a:lnTo>
                  <a:cubicBezTo>
                    <a:pt x="4176587" y="1480810"/>
                    <a:pt x="4165439" y="1491957"/>
                    <a:pt x="4151688" y="1491957"/>
                  </a:cubicBezTo>
                  <a:lnTo>
                    <a:pt x="24898" y="1491957"/>
                  </a:lnTo>
                  <a:cubicBezTo>
                    <a:pt x="11147" y="1491957"/>
                    <a:pt x="0" y="1480810"/>
                    <a:pt x="0" y="1467059"/>
                  </a:cubicBezTo>
                  <a:lnTo>
                    <a:pt x="0" y="24898"/>
                  </a:lnTo>
                  <a:cubicBezTo>
                    <a:pt x="0" y="11147"/>
                    <a:pt x="11147" y="0"/>
                    <a:pt x="24898" y="0"/>
                  </a:cubicBezTo>
                  <a:close/>
                </a:path>
              </a:pathLst>
            </a:custGeom>
            <a:solidFill>
              <a:srgbClr val="DFE9EF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76586" cy="153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262157" y="1656960"/>
            <a:ext cx="7518585" cy="310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579"/>
              </a:lnSpc>
              <a:spcBef>
                <a:spcPct val="0"/>
              </a:spcBef>
            </a:pPr>
            <a:r>
              <a:rPr lang="es-MX" sz="1999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“AUMENTO DE VOLUMEN EN REGIÓN CERVICAL ANTERIOR”</a:t>
            </a:r>
            <a:endParaRPr lang="en-US" sz="1999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77750" y="4195081"/>
            <a:ext cx="14305122" cy="521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27"/>
              </a:lnSpc>
              <a:spcBef>
                <a:spcPct val="0"/>
              </a:spcBef>
            </a:pPr>
            <a:r>
              <a:rPr lang="es-MX" sz="28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SE TRATA DE PACIENTE FEMENINA DE 61 AÑOS DE EDAD, NATURAL Y PROCEDENTE DE LA LOCALIDAD, QUIEN REFIERE INICIO DE ENFERMEDAD ACTUAL HACE 2 AÑOS APROXIMADAMENTE CARACTERIZADO POR PRESENTAR AUMENTO DE VOLUMEN EN REGIÓN CERVICAL ANTERIOR DE FORMA PROGRESIVA, ACOMPAÑADO DE DISFAGIA Y NERVIOSISMO RAZÓN POR LA CUAL ACUDE CON MEDICO ESPECIALISTA (ENDOCRINOLOGO) QUIEN EVALUA E INDICA TRATAMIENTO MEDICO A BASE DE LEVOTIROXINA 25MG VO OD; EN VISTA DE PERSISTIR AUMENTO DE VOLUMEN ES REFERIDA A CONSULTA EXTERNA DE CIRUGIA GENERAL, DONDE SE VALORA Y SE PLANIFICA PARA SU RESOLUCIÓN QUIRURGICA DE ELECTIVA.</a:t>
            </a:r>
            <a:endParaRPr lang="en-US" sz="2800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06711" y="887340"/>
            <a:ext cx="6429478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MOTIVO DE CONSULTA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6711" y="3425461"/>
            <a:ext cx="6429478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ENFERMEDAD ACTUAL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3253" y="4909174"/>
            <a:ext cx="19814506" cy="0"/>
          </a:xfrm>
          <a:prstGeom prst="line">
            <a:avLst/>
          </a:prstGeom>
          <a:ln w="47625" cap="flat">
            <a:solidFill>
              <a:srgbClr val="FBF6F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VE"/>
          </a:p>
        </p:txBody>
      </p:sp>
      <p:grpSp>
        <p:nvGrpSpPr>
          <p:cNvPr id="3" name="Group 3"/>
          <p:cNvGrpSpPr/>
          <p:nvPr/>
        </p:nvGrpSpPr>
        <p:grpSpPr>
          <a:xfrm>
            <a:off x="2391166" y="4067150"/>
            <a:ext cx="1636425" cy="163642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36360" y="4212343"/>
            <a:ext cx="1346037" cy="134603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38386" y="4551049"/>
            <a:ext cx="1141985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AP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367077" y="4067150"/>
            <a:ext cx="1636425" cy="163642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512271" y="4212343"/>
            <a:ext cx="1346037" cy="134603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14297" y="4551049"/>
            <a:ext cx="1141985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AQ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346652" y="4067150"/>
            <a:ext cx="1636425" cy="163642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91846" y="4212343"/>
            <a:ext cx="1346037" cy="134603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593872" y="4551049"/>
            <a:ext cx="1141985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AF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326227" y="4067150"/>
            <a:ext cx="1636425" cy="163642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471420" y="4212343"/>
            <a:ext cx="1346037" cy="134603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573447" y="4551049"/>
            <a:ext cx="1141985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HP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30918" y="5923887"/>
            <a:ext cx="3556922" cy="3791613"/>
            <a:chOff x="0" y="0"/>
            <a:chExt cx="2709437" cy="214220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09437" cy="2142209"/>
            </a:xfrm>
            <a:custGeom>
              <a:avLst/>
              <a:gdLst/>
              <a:ahLst/>
              <a:cxnLst/>
              <a:rect l="l" t="t" r="r" b="b"/>
              <a:pathLst>
                <a:path w="2709437" h="2142209">
                  <a:moveTo>
                    <a:pt x="82710" y="0"/>
                  </a:moveTo>
                  <a:lnTo>
                    <a:pt x="2626727" y="0"/>
                  </a:lnTo>
                  <a:cubicBezTo>
                    <a:pt x="2648663" y="0"/>
                    <a:pt x="2669700" y="8714"/>
                    <a:pt x="2685211" y="24225"/>
                  </a:cubicBezTo>
                  <a:cubicBezTo>
                    <a:pt x="2700723" y="39736"/>
                    <a:pt x="2709437" y="60774"/>
                    <a:pt x="2709437" y="82710"/>
                  </a:cubicBezTo>
                  <a:lnTo>
                    <a:pt x="2709437" y="2059499"/>
                  </a:lnTo>
                  <a:cubicBezTo>
                    <a:pt x="2709437" y="2105179"/>
                    <a:pt x="2672406" y="2142209"/>
                    <a:pt x="2626727" y="2142209"/>
                  </a:cubicBezTo>
                  <a:lnTo>
                    <a:pt x="82710" y="2142209"/>
                  </a:lnTo>
                  <a:cubicBezTo>
                    <a:pt x="60774" y="2142209"/>
                    <a:pt x="39736" y="2133495"/>
                    <a:pt x="24225" y="2117984"/>
                  </a:cubicBezTo>
                  <a:cubicBezTo>
                    <a:pt x="8714" y="2102473"/>
                    <a:pt x="0" y="2081435"/>
                    <a:pt x="0" y="2059499"/>
                  </a:cubicBezTo>
                  <a:lnTo>
                    <a:pt x="0" y="82710"/>
                  </a:lnTo>
                  <a:cubicBezTo>
                    <a:pt x="0" y="60774"/>
                    <a:pt x="8714" y="39736"/>
                    <a:pt x="24225" y="24225"/>
                  </a:cubicBezTo>
                  <a:cubicBezTo>
                    <a:pt x="39736" y="8714"/>
                    <a:pt x="60774" y="0"/>
                    <a:pt x="8271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2709437" cy="2170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15482" y="6108560"/>
            <a:ext cx="3187793" cy="3454539"/>
            <a:chOff x="0" y="0"/>
            <a:chExt cx="2428257" cy="186086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428257" cy="1860864"/>
            </a:xfrm>
            <a:custGeom>
              <a:avLst/>
              <a:gdLst/>
              <a:ahLst/>
              <a:cxnLst/>
              <a:rect l="l" t="t" r="r" b="b"/>
              <a:pathLst>
                <a:path w="2428257" h="1860864">
                  <a:moveTo>
                    <a:pt x="53430" y="0"/>
                  </a:moveTo>
                  <a:lnTo>
                    <a:pt x="2374828" y="0"/>
                  </a:lnTo>
                  <a:cubicBezTo>
                    <a:pt x="2404336" y="0"/>
                    <a:pt x="2428257" y="23921"/>
                    <a:pt x="2428257" y="53430"/>
                  </a:cubicBezTo>
                  <a:lnTo>
                    <a:pt x="2428257" y="1807434"/>
                  </a:lnTo>
                  <a:cubicBezTo>
                    <a:pt x="2428257" y="1836942"/>
                    <a:pt x="2404336" y="1860864"/>
                    <a:pt x="2374828" y="1860864"/>
                  </a:cubicBezTo>
                  <a:lnTo>
                    <a:pt x="53430" y="1860864"/>
                  </a:lnTo>
                  <a:cubicBezTo>
                    <a:pt x="23921" y="1860864"/>
                    <a:pt x="0" y="1836942"/>
                    <a:pt x="0" y="1807434"/>
                  </a:cubicBezTo>
                  <a:lnTo>
                    <a:pt x="0" y="53430"/>
                  </a:lnTo>
                  <a:cubicBezTo>
                    <a:pt x="0" y="23921"/>
                    <a:pt x="23921" y="0"/>
                    <a:pt x="53430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2428257" cy="1889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921309" y="7356425"/>
            <a:ext cx="2576137" cy="90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6"/>
              </a:lnSpc>
            </a:pPr>
            <a:r>
              <a:rPr lang="en-US" sz="12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NIEGA HIPERTENSIÓN ARTERIAL SISTEMICA, DIABETES MELLITUS, ASMA BRONQUIAL Y ALERGIA A MEDICAMENTOS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406829" y="5923887"/>
            <a:ext cx="3556922" cy="3791613"/>
            <a:chOff x="0" y="0"/>
            <a:chExt cx="2709437" cy="214220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709437" cy="2142209"/>
            </a:xfrm>
            <a:custGeom>
              <a:avLst/>
              <a:gdLst/>
              <a:ahLst/>
              <a:cxnLst/>
              <a:rect l="l" t="t" r="r" b="b"/>
              <a:pathLst>
                <a:path w="2709437" h="2142209">
                  <a:moveTo>
                    <a:pt x="82710" y="0"/>
                  </a:moveTo>
                  <a:lnTo>
                    <a:pt x="2626727" y="0"/>
                  </a:lnTo>
                  <a:cubicBezTo>
                    <a:pt x="2648663" y="0"/>
                    <a:pt x="2669700" y="8714"/>
                    <a:pt x="2685211" y="24225"/>
                  </a:cubicBezTo>
                  <a:cubicBezTo>
                    <a:pt x="2700723" y="39736"/>
                    <a:pt x="2709437" y="60774"/>
                    <a:pt x="2709437" y="82710"/>
                  </a:cubicBezTo>
                  <a:lnTo>
                    <a:pt x="2709437" y="2059499"/>
                  </a:lnTo>
                  <a:cubicBezTo>
                    <a:pt x="2709437" y="2105179"/>
                    <a:pt x="2672406" y="2142209"/>
                    <a:pt x="2626727" y="2142209"/>
                  </a:cubicBezTo>
                  <a:lnTo>
                    <a:pt x="82710" y="2142209"/>
                  </a:lnTo>
                  <a:cubicBezTo>
                    <a:pt x="60774" y="2142209"/>
                    <a:pt x="39736" y="2133495"/>
                    <a:pt x="24225" y="2117984"/>
                  </a:cubicBezTo>
                  <a:cubicBezTo>
                    <a:pt x="8714" y="2102473"/>
                    <a:pt x="0" y="2081435"/>
                    <a:pt x="0" y="2059499"/>
                  </a:cubicBezTo>
                  <a:lnTo>
                    <a:pt x="0" y="82710"/>
                  </a:lnTo>
                  <a:cubicBezTo>
                    <a:pt x="0" y="60774"/>
                    <a:pt x="8714" y="39736"/>
                    <a:pt x="24225" y="24225"/>
                  </a:cubicBezTo>
                  <a:cubicBezTo>
                    <a:pt x="39736" y="8714"/>
                    <a:pt x="60774" y="0"/>
                    <a:pt x="8271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2709437" cy="2170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91393" y="6108561"/>
            <a:ext cx="3187793" cy="3454538"/>
            <a:chOff x="0" y="0"/>
            <a:chExt cx="2428257" cy="186086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28257" cy="1860864"/>
            </a:xfrm>
            <a:custGeom>
              <a:avLst/>
              <a:gdLst/>
              <a:ahLst/>
              <a:cxnLst/>
              <a:rect l="l" t="t" r="r" b="b"/>
              <a:pathLst>
                <a:path w="2428257" h="1860864">
                  <a:moveTo>
                    <a:pt x="53430" y="0"/>
                  </a:moveTo>
                  <a:lnTo>
                    <a:pt x="2374828" y="0"/>
                  </a:lnTo>
                  <a:cubicBezTo>
                    <a:pt x="2404336" y="0"/>
                    <a:pt x="2428257" y="23921"/>
                    <a:pt x="2428257" y="53430"/>
                  </a:cubicBezTo>
                  <a:lnTo>
                    <a:pt x="2428257" y="1807434"/>
                  </a:lnTo>
                  <a:cubicBezTo>
                    <a:pt x="2428257" y="1836942"/>
                    <a:pt x="2404336" y="1860864"/>
                    <a:pt x="2374828" y="1860864"/>
                  </a:cubicBezTo>
                  <a:lnTo>
                    <a:pt x="53430" y="1860864"/>
                  </a:lnTo>
                  <a:cubicBezTo>
                    <a:pt x="23921" y="1860864"/>
                    <a:pt x="0" y="1836942"/>
                    <a:pt x="0" y="1807434"/>
                  </a:cubicBezTo>
                  <a:lnTo>
                    <a:pt x="0" y="53430"/>
                  </a:lnTo>
                  <a:cubicBezTo>
                    <a:pt x="0" y="23921"/>
                    <a:pt x="23921" y="0"/>
                    <a:pt x="53430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2428257" cy="1889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897220" y="7033334"/>
            <a:ext cx="2576137" cy="16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6"/>
              </a:lnSpc>
            </a:pPr>
            <a:r>
              <a:rPr lang="es-MX" sz="14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REFIERE INTERVENCION QUIRURGICA TIPO CESAREA SEGMENTARIA HACE 36 Y 30 AÑOS SIN COMPLICACIONES; REFIERE HACE 20 AÑOS EXERESIS DE GRANULOMA POR CUERPO EXTRAÑO. </a:t>
            </a:r>
            <a:endParaRPr lang="en-US" sz="1400" b="1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9350758" y="5923887"/>
            <a:ext cx="3556922" cy="3791613"/>
            <a:chOff x="0" y="0"/>
            <a:chExt cx="2709437" cy="214220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709437" cy="2142209"/>
            </a:xfrm>
            <a:custGeom>
              <a:avLst/>
              <a:gdLst/>
              <a:ahLst/>
              <a:cxnLst/>
              <a:rect l="l" t="t" r="r" b="b"/>
              <a:pathLst>
                <a:path w="2709437" h="2142209">
                  <a:moveTo>
                    <a:pt x="82710" y="0"/>
                  </a:moveTo>
                  <a:lnTo>
                    <a:pt x="2626727" y="0"/>
                  </a:lnTo>
                  <a:cubicBezTo>
                    <a:pt x="2648663" y="0"/>
                    <a:pt x="2669700" y="8714"/>
                    <a:pt x="2685211" y="24225"/>
                  </a:cubicBezTo>
                  <a:cubicBezTo>
                    <a:pt x="2700723" y="39736"/>
                    <a:pt x="2709437" y="60774"/>
                    <a:pt x="2709437" y="82710"/>
                  </a:cubicBezTo>
                  <a:lnTo>
                    <a:pt x="2709437" y="2059499"/>
                  </a:lnTo>
                  <a:cubicBezTo>
                    <a:pt x="2709437" y="2105179"/>
                    <a:pt x="2672406" y="2142209"/>
                    <a:pt x="2626727" y="2142209"/>
                  </a:cubicBezTo>
                  <a:lnTo>
                    <a:pt x="82710" y="2142209"/>
                  </a:lnTo>
                  <a:cubicBezTo>
                    <a:pt x="60774" y="2142209"/>
                    <a:pt x="39736" y="2133495"/>
                    <a:pt x="24225" y="2117984"/>
                  </a:cubicBezTo>
                  <a:cubicBezTo>
                    <a:pt x="8714" y="2102473"/>
                    <a:pt x="0" y="2081435"/>
                    <a:pt x="0" y="2059499"/>
                  </a:cubicBezTo>
                  <a:lnTo>
                    <a:pt x="0" y="82710"/>
                  </a:lnTo>
                  <a:cubicBezTo>
                    <a:pt x="0" y="60774"/>
                    <a:pt x="8714" y="39736"/>
                    <a:pt x="24225" y="24225"/>
                  </a:cubicBezTo>
                  <a:cubicBezTo>
                    <a:pt x="39736" y="8714"/>
                    <a:pt x="60774" y="0"/>
                    <a:pt x="8271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2709437" cy="2170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70968" y="6108561"/>
            <a:ext cx="3187793" cy="3454538"/>
            <a:chOff x="0" y="0"/>
            <a:chExt cx="2428257" cy="186086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428257" cy="1860864"/>
            </a:xfrm>
            <a:custGeom>
              <a:avLst/>
              <a:gdLst/>
              <a:ahLst/>
              <a:cxnLst/>
              <a:rect l="l" t="t" r="r" b="b"/>
              <a:pathLst>
                <a:path w="2428257" h="1860864">
                  <a:moveTo>
                    <a:pt x="53430" y="0"/>
                  </a:moveTo>
                  <a:lnTo>
                    <a:pt x="2374828" y="0"/>
                  </a:lnTo>
                  <a:cubicBezTo>
                    <a:pt x="2404336" y="0"/>
                    <a:pt x="2428257" y="23921"/>
                    <a:pt x="2428257" y="53430"/>
                  </a:cubicBezTo>
                  <a:lnTo>
                    <a:pt x="2428257" y="1807434"/>
                  </a:lnTo>
                  <a:cubicBezTo>
                    <a:pt x="2428257" y="1836942"/>
                    <a:pt x="2404336" y="1860864"/>
                    <a:pt x="2374828" y="1860864"/>
                  </a:cubicBezTo>
                  <a:lnTo>
                    <a:pt x="53430" y="1860864"/>
                  </a:lnTo>
                  <a:cubicBezTo>
                    <a:pt x="23921" y="1860864"/>
                    <a:pt x="0" y="1836942"/>
                    <a:pt x="0" y="1807434"/>
                  </a:cubicBezTo>
                  <a:lnTo>
                    <a:pt x="0" y="53430"/>
                  </a:lnTo>
                  <a:cubicBezTo>
                    <a:pt x="0" y="23921"/>
                    <a:pt x="23921" y="0"/>
                    <a:pt x="53430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2428257" cy="1889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841150" y="6340836"/>
            <a:ext cx="2576137" cy="298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6"/>
              </a:lnSpc>
            </a:pPr>
            <a:r>
              <a:rPr lang="en-US" sz="14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MADRE FALLECIDA CANCER DE ESTOMAGO NO ESPECIFICA EDAD; PADRE FALLECIDO A LOS 94 AÑOS POR ENFERMEDAD CEREBROVASCULAR; 7 HERMANOS 4 FALLECIDOS 1 POR CARDIOPATIA 2 DESCONOCE CAUSA 1 HEMORRAGIA DIGESTIVA 3 VIVOS APARENTEMENTE SANOS; 5 HIJOS VIVOS APARENTEMENTE SANOS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3362426" y="5923887"/>
            <a:ext cx="3556922" cy="3791613"/>
            <a:chOff x="0" y="0"/>
            <a:chExt cx="2709437" cy="214220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09437" cy="2142209"/>
            </a:xfrm>
            <a:custGeom>
              <a:avLst/>
              <a:gdLst/>
              <a:ahLst/>
              <a:cxnLst/>
              <a:rect l="l" t="t" r="r" b="b"/>
              <a:pathLst>
                <a:path w="2709437" h="2142209">
                  <a:moveTo>
                    <a:pt x="82710" y="0"/>
                  </a:moveTo>
                  <a:lnTo>
                    <a:pt x="2626727" y="0"/>
                  </a:lnTo>
                  <a:cubicBezTo>
                    <a:pt x="2648663" y="0"/>
                    <a:pt x="2669700" y="8714"/>
                    <a:pt x="2685211" y="24225"/>
                  </a:cubicBezTo>
                  <a:cubicBezTo>
                    <a:pt x="2700723" y="39736"/>
                    <a:pt x="2709437" y="60774"/>
                    <a:pt x="2709437" y="82710"/>
                  </a:cubicBezTo>
                  <a:lnTo>
                    <a:pt x="2709437" y="2059499"/>
                  </a:lnTo>
                  <a:cubicBezTo>
                    <a:pt x="2709437" y="2105179"/>
                    <a:pt x="2672406" y="2142209"/>
                    <a:pt x="2626727" y="2142209"/>
                  </a:cubicBezTo>
                  <a:lnTo>
                    <a:pt x="82710" y="2142209"/>
                  </a:lnTo>
                  <a:cubicBezTo>
                    <a:pt x="60774" y="2142209"/>
                    <a:pt x="39736" y="2133495"/>
                    <a:pt x="24225" y="2117984"/>
                  </a:cubicBezTo>
                  <a:cubicBezTo>
                    <a:pt x="8714" y="2102473"/>
                    <a:pt x="0" y="2081435"/>
                    <a:pt x="0" y="2059499"/>
                  </a:cubicBezTo>
                  <a:lnTo>
                    <a:pt x="0" y="82710"/>
                  </a:lnTo>
                  <a:cubicBezTo>
                    <a:pt x="0" y="60774"/>
                    <a:pt x="8714" y="39736"/>
                    <a:pt x="24225" y="24225"/>
                  </a:cubicBezTo>
                  <a:cubicBezTo>
                    <a:pt x="39736" y="8714"/>
                    <a:pt x="60774" y="0"/>
                    <a:pt x="8271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2709437" cy="2170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546990" y="6108561"/>
            <a:ext cx="3187793" cy="3454538"/>
            <a:chOff x="0" y="0"/>
            <a:chExt cx="2428257" cy="186086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428257" cy="1860864"/>
            </a:xfrm>
            <a:custGeom>
              <a:avLst/>
              <a:gdLst/>
              <a:ahLst/>
              <a:cxnLst/>
              <a:rect l="l" t="t" r="r" b="b"/>
              <a:pathLst>
                <a:path w="2428257" h="1860864">
                  <a:moveTo>
                    <a:pt x="53430" y="0"/>
                  </a:moveTo>
                  <a:lnTo>
                    <a:pt x="2374828" y="0"/>
                  </a:lnTo>
                  <a:cubicBezTo>
                    <a:pt x="2404336" y="0"/>
                    <a:pt x="2428257" y="23921"/>
                    <a:pt x="2428257" y="53430"/>
                  </a:cubicBezTo>
                  <a:lnTo>
                    <a:pt x="2428257" y="1807434"/>
                  </a:lnTo>
                  <a:cubicBezTo>
                    <a:pt x="2428257" y="1836942"/>
                    <a:pt x="2404336" y="1860864"/>
                    <a:pt x="2374828" y="1860864"/>
                  </a:cubicBezTo>
                  <a:lnTo>
                    <a:pt x="53430" y="1860864"/>
                  </a:lnTo>
                  <a:cubicBezTo>
                    <a:pt x="23921" y="1860864"/>
                    <a:pt x="0" y="1836942"/>
                    <a:pt x="0" y="1807434"/>
                  </a:cubicBezTo>
                  <a:lnTo>
                    <a:pt x="0" y="53430"/>
                  </a:lnTo>
                  <a:cubicBezTo>
                    <a:pt x="0" y="23921"/>
                    <a:pt x="23921" y="0"/>
                    <a:pt x="53430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2428257" cy="1889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3852817" y="6802501"/>
            <a:ext cx="2576137" cy="206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6"/>
              </a:lnSpc>
            </a:pPr>
            <a:r>
              <a:rPr lang="es-MX" sz="14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HABITO TABAQUICO DESDE LOS 20 AÑOS ABANDONADO HACE 1 AÑO, TIPO CIGARRILLO EN #1-2, IPA: 4 PAQ/AÑO; HABITO CAFEICO DIARIO 2 TAZAS AL DIA TIPO NEGRO CON AZUCAR; NIEG HABITO ETILICO; OCUPACIÓN: AMA DE CASA.</a:t>
            </a:r>
            <a:endParaRPr lang="en-US" sz="1400" b="1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430918" y="1790644"/>
            <a:ext cx="1548843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39"/>
              </a:lnSpc>
            </a:pPr>
            <a:r>
              <a:rPr lang="en-US" sz="6999" b="1" spc="-321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ANTECEDENTES PERSONALES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33401" y="4137618"/>
            <a:ext cx="3733799" cy="2011763"/>
            <a:chOff x="0" y="0"/>
            <a:chExt cx="5470564" cy="19759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8235" y="4338059"/>
            <a:ext cx="3376566" cy="1691117"/>
            <a:chOff x="0" y="0"/>
            <a:chExt cx="5148727" cy="16609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38235" y="4611577"/>
            <a:ext cx="337656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GENERAL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8235" y="5234790"/>
            <a:ext cx="337656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REFIERE AUMENTO DE PESO DE 6-8KG NO ASOCIADO A DIETA.</a:t>
            </a:r>
          </a:p>
        </p:txBody>
      </p:sp>
      <p:grpSp>
        <p:nvGrpSpPr>
          <p:cNvPr id="34" name="Group 3">
            <a:extLst>
              <a:ext uri="{FF2B5EF4-FFF2-40B4-BE49-F238E27FC236}">
                <a16:creationId xmlns:a16="http://schemas.microsoft.com/office/drawing/2014/main" id="{26992178-4180-E58B-809A-15A8AD510135}"/>
              </a:ext>
            </a:extLst>
          </p:cNvPr>
          <p:cNvGrpSpPr/>
          <p:nvPr/>
        </p:nvGrpSpPr>
        <p:grpSpPr>
          <a:xfrm>
            <a:off x="3276601" y="6686204"/>
            <a:ext cx="3733799" cy="2011763"/>
            <a:chOff x="0" y="0"/>
            <a:chExt cx="5470564" cy="1975928"/>
          </a:xfrm>
        </p:grpSpPr>
        <p:sp>
          <p:nvSpPr>
            <p:cNvPr id="35" name="Freeform 4">
              <a:extLst>
                <a:ext uri="{FF2B5EF4-FFF2-40B4-BE49-F238E27FC236}">
                  <a16:creationId xmlns:a16="http://schemas.microsoft.com/office/drawing/2014/main" id="{19C54017-4141-6AB5-4AA0-86E2BCBA829F}"/>
                </a:ext>
              </a:extLst>
            </p:cNvPr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36" name="TextBox 5">
              <a:extLst>
                <a:ext uri="{FF2B5EF4-FFF2-40B4-BE49-F238E27FC236}">
                  <a16:creationId xmlns:a16="http://schemas.microsoft.com/office/drawing/2014/main" id="{78B74FDF-BA72-B669-2E16-91CB07C4DC43}"/>
                </a:ext>
              </a:extLst>
            </p:cNvPr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6">
            <a:extLst>
              <a:ext uri="{FF2B5EF4-FFF2-40B4-BE49-F238E27FC236}">
                <a16:creationId xmlns:a16="http://schemas.microsoft.com/office/drawing/2014/main" id="{737FCFDC-7A13-EF0E-5B4A-94C67BD8520E}"/>
              </a:ext>
            </a:extLst>
          </p:cNvPr>
          <p:cNvGrpSpPr/>
          <p:nvPr/>
        </p:nvGrpSpPr>
        <p:grpSpPr>
          <a:xfrm>
            <a:off x="3481435" y="6886645"/>
            <a:ext cx="3376566" cy="1691117"/>
            <a:chOff x="0" y="0"/>
            <a:chExt cx="5148727" cy="1660993"/>
          </a:xfrm>
        </p:grpSpPr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68041504-40E5-220C-4587-A6872909EC7F}"/>
                </a:ext>
              </a:extLst>
            </p:cNvPr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39" name="TextBox 8">
              <a:extLst>
                <a:ext uri="{FF2B5EF4-FFF2-40B4-BE49-F238E27FC236}">
                  <a16:creationId xmlns:a16="http://schemas.microsoft.com/office/drawing/2014/main" id="{7E3C608C-9F9C-CF84-57E5-61845A3E94F7}"/>
                </a:ext>
              </a:extLst>
            </p:cNvPr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21">
            <a:extLst>
              <a:ext uri="{FF2B5EF4-FFF2-40B4-BE49-F238E27FC236}">
                <a16:creationId xmlns:a16="http://schemas.microsoft.com/office/drawing/2014/main" id="{960DB9E1-A358-7B9E-52F8-C31CE7102845}"/>
              </a:ext>
            </a:extLst>
          </p:cNvPr>
          <p:cNvSpPr txBox="1"/>
          <p:nvPr/>
        </p:nvSpPr>
        <p:spPr>
          <a:xfrm>
            <a:off x="3481435" y="7214330"/>
            <a:ext cx="337656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GARGANTA</a:t>
            </a:r>
          </a:p>
        </p:txBody>
      </p:sp>
      <p:sp>
        <p:nvSpPr>
          <p:cNvPr id="41" name="TextBox 22">
            <a:extLst>
              <a:ext uri="{FF2B5EF4-FFF2-40B4-BE49-F238E27FC236}">
                <a16:creationId xmlns:a16="http://schemas.microsoft.com/office/drawing/2014/main" id="{B932D9C1-C201-5FDB-B85C-D2252C0532E9}"/>
              </a:ext>
            </a:extLst>
          </p:cNvPr>
          <p:cNvSpPr txBox="1"/>
          <p:nvPr/>
        </p:nvSpPr>
        <p:spPr>
          <a:xfrm>
            <a:off x="3481435" y="7783376"/>
            <a:ext cx="3376566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29"/>
              </a:lnSpc>
            </a:pPr>
            <a:r>
              <a:rPr lang="en-US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NIEGA DISFAGIA, ODINOFAGIA, DISFONIA.</a:t>
            </a:r>
          </a:p>
        </p:txBody>
      </p:sp>
      <p:grpSp>
        <p:nvGrpSpPr>
          <p:cNvPr id="42" name="Group 3">
            <a:extLst>
              <a:ext uri="{FF2B5EF4-FFF2-40B4-BE49-F238E27FC236}">
                <a16:creationId xmlns:a16="http://schemas.microsoft.com/office/drawing/2014/main" id="{A2AD3ED4-7913-704D-C4F0-C48E89CFB6B0}"/>
              </a:ext>
            </a:extLst>
          </p:cNvPr>
          <p:cNvGrpSpPr/>
          <p:nvPr/>
        </p:nvGrpSpPr>
        <p:grpSpPr>
          <a:xfrm>
            <a:off x="7010400" y="4137618"/>
            <a:ext cx="3733799" cy="2011763"/>
            <a:chOff x="0" y="0"/>
            <a:chExt cx="5470564" cy="1975928"/>
          </a:xfrm>
        </p:grpSpPr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167B3791-27E9-463A-E598-BC8AD31C76F5}"/>
                </a:ext>
              </a:extLst>
            </p:cNvPr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4" name="TextBox 5">
              <a:extLst>
                <a:ext uri="{FF2B5EF4-FFF2-40B4-BE49-F238E27FC236}">
                  <a16:creationId xmlns:a16="http://schemas.microsoft.com/office/drawing/2014/main" id="{083B0FCD-7EB4-74C8-E9F2-C4B80D91161C}"/>
                </a:ext>
              </a:extLst>
            </p:cNvPr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6">
            <a:extLst>
              <a:ext uri="{FF2B5EF4-FFF2-40B4-BE49-F238E27FC236}">
                <a16:creationId xmlns:a16="http://schemas.microsoft.com/office/drawing/2014/main" id="{F2043FD2-1AA2-BE46-65B9-ACAACF7D2182}"/>
              </a:ext>
            </a:extLst>
          </p:cNvPr>
          <p:cNvGrpSpPr/>
          <p:nvPr/>
        </p:nvGrpSpPr>
        <p:grpSpPr>
          <a:xfrm>
            <a:off x="7215234" y="4338059"/>
            <a:ext cx="3376566" cy="1691117"/>
            <a:chOff x="0" y="0"/>
            <a:chExt cx="5148727" cy="1660993"/>
          </a:xfrm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18DA26BF-C4D3-4199-7BCE-048E47AF3CCB}"/>
                </a:ext>
              </a:extLst>
            </p:cNvPr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47" name="TextBox 8">
              <a:extLst>
                <a:ext uri="{FF2B5EF4-FFF2-40B4-BE49-F238E27FC236}">
                  <a16:creationId xmlns:a16="http://schemas.microsoft.com/office/drawing/2014/main" id="{96AB8E99-734C-FE91-E88E-AFD26A475A20}"/>
                </a:ext>
              </a:extLst>
            </p:cNvPr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21">
            <a:extLst>
              <a:ext uri="{FF2B5EF4-FFF2-40B4-BE49-F238E27FC236}">
                <a16:creationId xmlns:a16="http://schemas.microsoft.com/office/drawing/2014/main" id="{E58DB79A-AAF5-9AF6-12E8-A192DAB8C94A}"/>
              </a:ext>
            </a:extLst>
          </p:cNvPr>
          <p:cNvSpPr txBox="1"/>
          <p:nvPr/>
        </p:nvSpPr>
        <p:spPr>
          <a:xfrm>
            <a:off x="7215234" y="4665744"/>
            <a:ext cx="337656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CARDIACO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2D5F530F-5549-1338-D68E-4C05C175463E}"/>
              </a:ext>
            </a:extLst>
          </p:cNvPr>
          <p:cNvSpPr txBox="1"/>
          <p:nvPr/>
        </p:nvSpPr>
        <p:spPr>
          <a:xfrm>
            <a:off x="7215234" y="5234790"/>
            <a:ext cx="3376566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29"/>
              </a:lnSpc>
            </a:pPr>
            <a:r>
              <a:rPr lang="en-US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NIEGA PALPITACIONES.</a:t>
            </a:r>
          </a:p>
        </p:txBody>
      </p:sp>
      <p:grpSp>
        <p:nvGrpSpPr>
          <p:cNvPr id="50" name="Group 2">
            <a:extLst>
              <a:ext uri="{FF2B5EF4-FFF2-40B4-BE49-F238E27FC236}">
                <a16:creationId xmlns:a16="http://schemas.microsoft.com/office/drawing/2014/main" id="{192AE9E2-2EC3-A53E-D264-CF4ABDD5DF78}"/>
              </a:ext>
            </a:extLst>
          </p:cNvPr>
          <p:cNvGrpSpPr/>
          <p:nvPr/>
        </p:nvGrpSpPr>
        <p:grpSpPr>
          <a:xfrm>
            <a:off x="1311017" y="972612"/>
            <a:ext cx="15665966" cy="1954028"/>
            <a:chOff x="0" y="0"/>
            <a:chExt cx="4126016" cy="288715"/>
          </a:xfrm>
        </p:grpSpPr>
        <p:sp>
          <p:nvSpPr>
            <p:cNvPr id="51" name="Freeform 3">
              <a:extLst>
                <a:ext uri="{FF2B5EF4-FFF2-40B4-BE49-F238E27FC236}">
                  <a16:creationId xmlns:a16="http://schemas.microsoft.com/office/drawing/2014/main" id="{A73AFD07-4965-1318-9B38-A5674BC68B1B}"/>
                </a:ext>
              </a:extLst>
            </p:cNvPr>
            <p:cNvSpPr/>
            <p:nvPr/>
          </p:nvSpPr>
          <p:spPr>
            <a:xfrm>
              <a:off x="0" y="0"/>
              <a:ext cx="4126016" cy="288715"/>
            </a:xfrm>
            <a:custGeom>
              <a:avLst/>
              <a:gdLst/>
              <a:ahLst/>
              <a:cxnLst/>
              <a:rect l="l" t="t" r="r" b="b"/>
              <a:pathLst>
                <a:path w="4126016" h="288715">
                  <a:moveTo>
                    <a:pt x="25204" y="0"/>
                  </a:moveTo>
                  <a:lnTo>
                    <a:pt x="4100812" y="0"/>
                  </a:lnTo>
                  <a:cubicBezTo>
                    <a:pt x="4107497" y="0"/>
                    <a:pt x="4113907" y="2655"/>
                    <a:pt x="4118633" y="7382"/>
                  </a:cubicBezTo>
                  <a:cubicBezTo>
                    <a:pt x="4123360" y="12109"/>
                    <a:pt x="4126016" y="18519"/>
                    <a:pt x="4126016" y="25204"/>
                  </a:cubicBezTo>
                  <a:lnTo>
                    <a:pt x="4126016" y="263512"/>
                  </a:lnTo>
                  <a:cubicBezTo>
                    <a:pt x="4126016" y="277431"/>
                    <a:pt x="4114731" y="288715"/>
                    <a:pt x="4100812" y="288715"/>
                  </a:cubicBezTo>
                  <a:lnTo>
                    <a:pt x="25204" y="288715"/>
                  </a:lnTo>
                  <a:cubicBezTo>
                    <a:pt x="18519" y="288715"/>
                    <a:pt x="12109" y="286060"/>
                    <a:pt x="7382" y="281333"/>
                  </a:cubicBezTo>
                  <a:cubicBezTo>
                    <a:pt x="2655" y="276607"/>
                    <a:pt x="0" y="270196"/>
                    <a:pt x="0" y="263512"/>
                  </a:cubicBezTo>
                  <a:lnTo>
                    <a:pt x="0" y="25204"/>
                  </a:lnTo>
                  <a:cubicBezTo>
                    <a:pt x="0" y="11284"/>
                    <a:pt x="11284" y="0"/>
                    <a:pt x="25204" y="0"/>
                  </a:cubicBezTo>
                  <a:close/>
                </a:path>
              </a:pathLst>
            </a:custGeom>
            <a:solidFill>
              <a:srgbClr val="C3DCEF"/>
            </a:solidFill>
          </p:spPr>
          <p:txBody>
            <a:bodyPr/>
            <a:lstStyle/>
            <a:p>
              <a:pPr algn="ctr"/>
              <a:r>
                <a:rPr lang="en-US" sz="11500" b="1" spc="-321" dirty="0">
                  <a:solidFill>
                    <a:srgbClr val="156669"/>
                  </a:solidFill>
                  <a:latin typeface="Raleway Semi-Bold"/>
                  <a:ea typeface="Raleway Semi-Bold"/>
                  <a:cs typeface="Raleway Semi-Bold"/>
                  <a:sym typeface="Raleway Semi-Bold"/>
                </a:rPr>
                <a:t>EXAMEN FUNCIONAL</a:t>
              </a:r>
            </a:p>
            <a:p>
              <a:endParaRPr lang="es-VE" dirty="0"/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DE40304E-FC94-CAF4-D663-FFA15E579684}"/>
                </a:ext>
              </a:extLst>
            </p:cNvPr>
            <p:cNvSpPr txBox="1"/>
            <p:nvPr/>
          </p:nvSpPr>
          <p:spPr>
            <a:xfrm>
              <a:off x="0" y="-38100"/>
              <a:ext cx="4126016" cy="32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F71B22F1-C6B2-03E6-7858-87BC916535FC}"/>
              </a:ext>
            </a:extLst>
          </p:cNvPr>
          <p:cNvGrpSpPr/>
          <p:nvPr/>
        </p:nvGrpSpPr>
        <p:grpSpPr>
          <a:xfrm>
            <a:off x="10820404" y="6686204"/>
            <a:ext cx="3733799" cy="2011763"/>
            <a:chOff x="0" y="0"/>
            <a:chExt cx="5470564" cy="1975928"/>
          </a:xfrm>
        </p:grpSpPr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55B21EF7-6A73-DA4E-FCDB-390D77387F02}"/>
                </a:ext>
              </a:extLst>
            </p:cNvPr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55" name="TextBox 5">
              <a:extLst>
                <a:ext uri="{FF2B5EF4-FFF2-40B4-BE49-F238E27FC236}">
                  <a16:creationId xmlns:a16="http://schemas.microsoft.com/office/drawing/2014/main" id="{5114F6AB-3F4A-A467-BBCE-D8E69F154209}"/>
                </a:ext>
              </a:extLst>
            </p:cNvPr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6" name="Group 6">
            <a:extLst>
              <a:ext uri="{FF2B5EF4-FFF2-40B4-BE49-F238E27FC236}">
                <a16:creationId xmlns:a16="http://schemas.microsoft.com/office/drawing/2014/main" id="{DB1BC06A-99BF-BE6E-4989-DDD86931A136}"/>
              </a:ext>
            </a:extLst>
          </p:cNvPr>
          <p:cNvGrpSpPr/>
          <p:nvPr/>
        </p:nvGrpSpPr>
        <p:grpSpPr>
          <a:xfrm>
            <a:off x="11025238" y="6886645"/>
            <a:ext cx="3376566" cy="1691117"/>
            <a:chOff x="0" y="0"/>
            <a:chExt cx="5148727" cy="1660993"/>
          </a:xfrm>
        </p:grpSpPr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061C1BF-38B7-A7F7-8098-5521ABE2B9EF}"/>
                </a:ext>
              </a:extLst>
            </p:cNvPr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58" name="TextBox 8">
              <a:extLst>
                <a:ext uri="{FF2B5EF4-FFF2-40B4-BE49-F238E27FC236}">
                  <a16:creationId xmlns:a16="http://schemas.microsoft.com/office/drawing/2014/main" id="{9413EEB5-4B32-2467-1008-0E4F9E7A0BAC}"/>
                </a:ext>
              </a:extLst>
            </p:cNvPr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9" name="TextBox 21">
            <a:extLst>
              <a:ext uri="{FF2B5EF4-FFF2-40B4-BE49-F238E27FC236}">
                <a16:creationId xmlns:a16="http://schemas.microsoft.com/office/drawing/2014/main" id="{CDB4678F-CDFE-02BE-F43F-829062771885}"/>
              </a:ext>
            </a:extLst>
          </p:cNvPr>
          <p:cNvSpPr txBox="1"/>
          <p:nvPr/>
        </p:nvSpPr>
        <p:spPr>
          <a:xfrm>
            <a:off x="11025238" y="7214330"/>
            <a:ext cx="3376565" cy="430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28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GASTROINTESTINAL</a:t>
            </a:r>
          </a:p>
        </p:txBody>
      </p:sp>
      <p:sp>
        <p:nvSpPr>
          <p:cNvPr id="60" name="TextBox 22">
            <a:extLst>
              <a:ext uri="{FF2B5EF4-FFF2-40B4-BE49-F238E27FC236}">
                <a16:creationId xmlns:a16="http://schemas.microsoft.com/office/drawing/2014/main" id="{71D0FEA9-530E-A26B-1828-A057FDAA9DF4}"/>
              </a:ext>
            </a:extLst>
          </p:cNvPr>
          <p:cNvSpPr txBox="1"/>
          <p:nvPr/>
        </p:nvSpPr>
        <p:spPr>
          <a:xfrm>
            <a:off x="11025238" y="7783376"/>
            <a:ext cx="3376566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s-MX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REFIERE HÁBITOS EVACUATORIOS DIARIO, 01 VEZ AL DIA, PASTOSAS, SIN PRESENCIA DE MOCO NI SANGRE.</a:t>
            </a:r>
          </a:p>
        </p:txBody>
      </p:sp>
      <p:grpSp>
        <p:nvGrpSpPr>
          <p:cNvPr id="61" name="Group 3">
            <a:extLst>
              <a:ext uri="{FF2B5EF4-FFF2-40B4-BE49-F238E27FC236}">
                <a16:creationId xmlns:a16="http://schemas.microsoft.com/office/drawing/2014/main" id="{A76976D9-AD93-BE01-CF99-B09BBA4E0313}"/>
              </a:ext>
            </a:extLst>
          </p:cNvPr>
          <p:cNvGrpSpPr/>
          <p:nvPr/>
        </p:nvGrpSpPr>
        <p:grpSpPr>
          <a:xfrm>
            <a:off x="13563602" y="4127575"/>
            <a:ext cx="3733799" cy="2011763"/>
            <a:chOff x="0" y="0"/>
            <a:chExt cx="5470564" cy="1975928"/>
          </a:xfrm>
        </p:grpSpPr>
        <p:sp>
          <p:nvSpPr>
            <p:cNvPr id="62" name="Freeform 4">
              <a:extLst>
                <a:ext uri="{FF2B5EF4-FFF2-40B4-BE49-F238E27FC236}">
                  <a16:creationId xmlns:a16="http://schemas.microsoft.com/office/drawing/2014/main" id="{0F351B5A-501F-86D2-4C07-BDEB59DD70FE}"/>
                </a:ext>
              </a:extLst>
            </p:cNvPr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63" name="TextBox 5">
              <a:extLst>
                <a:ext uri="{FF2B5EF4-FFF2-40B4-BE49-F238E27FC236}">
                  <a16:creationId xmlns:a16="http://schemas.microsoft.com/office/drawing/2014/main" id="{EAEF0D10-77D1-B156-4C9A-A4510856DC68}"/>
                </a:ext>
              </a:extLst>
            </p:cNvPr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4" name="Group 6">
            <a:extLst>
              <a:ext uri="{FF2B5EF4-FFF2-40B4-BE49-F238E27FC236}">
                <a16:creationId xmlns:a16="http://schemas.microsoft.com/office/drawing/2014/main" id="{15175C61-E3C7-D075-0B49-0B5239C04669}"/>
              </a:ext>
            </a:extLst>
          </p:cNvPr>
          <p:cNvGrpSpPr/>
          <p:nvPr/>
        </p:nvGrpSpPr>
        <p:grpSpPr>
          <a:xfrm>
            <a:off x="13768436" y="4328016"/>
            <a:ext cx="3376566" cy="1691117"/>
            <a:chOff x="0" y="0"/>
            <a:chExt cx="5148727" cy="1660993"/>
          </a:xfrm>
        </p:grpSpPr>
        <p:sp>
          <p:nvSpPr>
            <p:cNvPr id="65" name="Freeform 7">
              <a:extLst>
                <a:ext uri="{FF2B5EF4-FFF2-40B4-BE49-F238E27FC236}">
                  <a16:creationId xmlns:a16="http://schemas.microsoft.com/office/drawing/2014/main" id="{430239D3-B3AA-4512-3845-C9CFDFFBD6DD}"/>
                </a:ext>
              </a:extLst>
            </p:cNvPr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66" name="TextBox 8">
              <a:extLst>
                <a:ext uri="{FF2B5EF4-FFF2-40B4-BE49-F238E27FC236}">
                  <a16:creationId xmlns:a16="http://schemas.microsoft.com/office/drawing/2014/main" id="{E31FF0FC-1B87-624B-90D8-4B165794888B}"/>
                </a:ext>
              </a:extLst>
            </p:cNvPr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7" name="TextBox 21">
            <a:extLst>
              <a:ext uri="{FF2B5EF4-FFF2-40B4-BE49-F238E27FC236}">
                <a16:creationId xmlns:a16="http://schemas.microsoft.com/office/drawing/2014/main" id="{E666C71A-674E-4C4A-ADD2-F1E70B2F0247}"/>
              </a:ext>
            </a:extLst>
          </p:cNvPr>
          <p:cNvSpPr txBox="1"/>
          <p:nvPr/>
        </p:nvSpPr>
        <p:spPr>
          <a:xfrm>
            <a:off x="13768436" y="4655701"/>
            <a:ext cx="337656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GENITOURINARIO</a:t>
            </a:r>
          </a:p>
        </p:txBody>
      </p:sp>
      <p:sp>
        <p:nvSpPr>
          <p:cNvPr id="68" name="TextBox 22">
            <a:extLst>
              <a:ext uri="{FF2B5EF4-FFF2-40B4-BE49-F238E27FC236}">
                <a16:creationId xmlns:a16="http://schemas.microsoft.com/office/drawing/2014/main" id="{C46E8665-AC4A-8ECD-C47E-7EED30CE82D0}"/>
              </a:ext>
            </a:extLst>
          </p:cNvPr>
          <p:cNvSpPr txBox="1"/>
          <p:nvPr/>
        </p:nvSpPr>
        <p:spPr>
          <a:xfrm>
            <a:off x="13844635" y="5358538"/>
            <a:ext cx="337656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s-MX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REFIERE MICCIONES EN #3-4 VECES AL DÍA, CLARAS, NO FÉTIDAS. </a:t>
            </a:r>
            <a:endParaRPr lang="en-US" sz="1200" b="1" dirty="0">
              <a:solidFill>
                <a:srgbClr val="FBF6F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grpSp>
        <p:nvGrpSpPr>
          <p:cNvPr id="75" name="Group 5">
            <a:extLst>
              <a:ext uri="{FF2B5EF4-FFF2-40B4-BE49-F238E27FC236}">
                <a16:creationId xmlns:a16="http://schemas.microsoft.com/office/drawing/2014/main" id="{E8B4F57A-4C58-A39C-8176-DCE75D3CE18C}"/>
              </a:ext>
            </a:extLst>
          </p:cNvPr>
          <p:cNvGrpSpPr/>
          <p:nvPr/>
        </p:nvGrpSpPr>
        <p:grpSpPr>
          <a:xfrm>
            <a:off x="76200" y="9309720"/>
            <a:ext cx="17983200" cy="780782"/>
            <a:chOff x="0" y="0"/>
            <a:chExt cx="4176586" cy="1491957"/>
          </a:xfrm>
        </p:grpSpPr>
        <p:sp>
          <p:nvSpPr>
            <p:cNvPr id="76" name="Freeform 6">
              <a:extLst>
                <a:ext uri="{FF2B5EF4-FFF2-40B4-BE49-F238E27FC236}">
                  <a16:creationId xmlns:a16="http://schemas.microsoft.com/office/drawing/2014/main" id="{B4E98DB3-58D9-46E8-FA43-BAB99D03F236}"/>
                </a:ext>
              </a:extLst>
            </p:cNvPr>
            <p:cNvSpPr/>
            <p:nvPr/>
          </p:nvSpPr>
          <p:spPr>
            <a:xfrm>
              <a:off x="0" y="0"/>
              <a:ext cx="4176587" cy="1491957"/>
            </a:xfrm>
            <a:custGeom>
              <a:avLst/>
              <a:gdLst/>
              <a:ahLst/>
              <a:cxnLst/>
              <a:rect l="l" t="t" r="r" b="b"/>
              <a:pathLst>
                <a:path w="4176587" h="1491957">
                  <a:moveTo>
                    <a:pt x="24898" y="0"/>
                  </a:moveTo>
                  <a:lnTo>
                    <a:pt x="4151688" y="0"/>
                  </a:lnTo>
                  <a:cubicBezTo>
                    <a:pt x="4165439" y="0"/>
                    <a:pt x="4176587" y="11147"/>
                    <a:pt x="4176587" y="24898"/>
                  </a:cubicBezTo>
                  <a:lnTo>
                    <a:pt x="4176587" y="1467059"/>
                  </a:lnTo>
                  <a:cubicBezTo>
                    <a:pt x="4176587" y="1480810"/>
                    <a:pt x="4165439" y="1491957"/>
                    <a:pt x="4151688" y="1491957"/>
                  </a:cubicBezTo>
                  <a:lnTo>
                    <a:pt x="24898" y="1491957"/>
                  </a:lnTo>
                  <a:cubicBezTo>
                    <a:pt x="11147" y="1491957"/>
                    <a:pt x="0" y="1480810"/>
                    <a:pt x="0" y="1467059"/>
                  </a:cubicBezTo>
                  <a:lnTo>
                    <a:pt x="0" y="24898"/>
                  </a:lnTo>
                  <a:cubicBezTo>
                    <a:pt x="0" y="11147"/>
                    <a:pt x="11147" y="0"/>
                    <a:pt x="24898" y="0"/>
                  </a:cubicBezTo>
                  <a:close/>
                </a:path>
              </a:pathLst>
            </a:custGeom>
            <a:solidFill>
              <a:srgbClr val="DFE9EF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77" name="TextBox 7">
              <a:extLst>
                <a:ext uri="{FF2B5EF4-FFF2-40B4-BE49-F238E27FC236}">
                  <a16:creationId xmlns:a16="http://schemas.microsoft.com/office/drawing/2014/main" id="{931A45E0-5AAA-0E31-4BF4-6171696041A3}"/>
                </a:ext>
              </a:extLst>
            </p:cNvPr>
            <p:cNvSpPr txBox="1"/>
            <p:nvPr/>
          </p:nvSpPr>
          <p:spPr>
            <a:xfrm>
              <a:off x="0" y="-38100"/>
              <a:ext cx="4176586" cy="153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90173" y="1343674"/>
            <a:ext cx="4174892" cy="3703014"/>
            <a:chOff x="0" y="0"/>
            <a:chExt cx="3825936" cy="339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25936" cy="3393499"/>
            </a:xfrm>
            <a:custGeom>
              <a:avLst/>
              <a:gdLst/>
              <a:ahLst/>
              <a:cxnLst/>
              <a:rect l="l" t="t" r="r" b="b"/>
              <a:pathLst>
                <a:path w="3825936" h="3393499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C4E0E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13801" y="1558773"/>
            <a:ext cx="3727636" cy="3272817"/>
            <a:chOff x="0" y="0"/>
            <a:chExt cx="3416064" cy="29992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6064" cy="2999260"/>
            </a:xfrm>
            <a:custGeom>
              <a:avLst/>
              <a:gdLst/>
              <a:ahLst/>
              <a:cxnLst/>
              <a:rect l="l" t="t" r="r" b="b"/>
              <a:pathLst>
                <a:path w="3416064" h="2999260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690173" y="5240312"/>
            <a:ext cx="4174892" cy="3703014"/>
            <a:chOff x="0" y="0"/>
            <a:chExt cx="3825936" cy="3393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25936" cy="3393499"/>
            </a:xfrm>
            <a:custGeom>
              <a:avLst/>
              <a:gdLst/>
              <a:ahLst/>
              <a:cxnLst/>
              <a:rect l="l" t="t" r="r" b="b"/>
              <a:pathLst>
                <a:path w="3825936" h="3393499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C4E0E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13801" y="5455410"/>
            <a:ext cx="3727636" cy="3272817"/>
            <a:chOff x="0" y="0"/>
            <a:chExt cx="3416064" cy="29992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16064" cy="2999260"/>
            </a:xfrm>
            <a:custGeom>
              <a:avLst/>
              <a:gdLst/>
              <a:ahLst/>
              <a:cxnLst/>
              <a:rect l="l" t="t" r="r" b="b"/>
              <a:pathLst>
                <a:path w="3416064" h="2999260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084408" y="1343674"/>
            <a:ext cx="4174892" cy="3703014"/>
            <a:chOff x="0" y="0"/>
            <a:chExt cx="3825936" cy="3393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25936" cy="3393499"/>
            </a:xfrm>
            <a:custGeom>
              <a:avLst/>
              <a:gdLst/>
              <a:ahLst/>
              <a:cxnLst/>
              <a:rect l="l" t="t" r="r" b="b"/>
              <a:pathLst>
                <a:path w="3825936" h="3393499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C4E0E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08036" y="1558773"/>
            <a:ext cx="3727636" cy="3272817"/>
            <a:chOff x="0" y="0"/>
            <a:chExt cx="3416064" cy="29992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16064" cy="2999260"/>
            </a:xfrm>
            <a:custGeom>
              <a:avLst/>
              <a:gdLst/>
              <a:ahLst/>
              <a:cxnLst/>
              <a:rect l="l" t="t" r="r" b="b"/>
              <a:pathLst>
                <a:path w="3416064" h="2999260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084408" y="5240312"/>
            <a:ext cx="4174892" cy="3703014"/>
            <a:chOff x="0" y="0"/>
            <a:chExt cx="3825936" cy="3393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25936" cy="3393499"/>
            </a:xfrm>
            <a:custGeom>
              <a:avLst/>
              <a:gdLst/>
              <a:ahLst/>
              <a:cxnLst/>
              <a:rect l="l" t="t" r="r" b="b"/>
              <a:pathLst>
                <a:path w="3825936" h="3393499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C4E0E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308036" y="5455410"/>
            <a:ext cx="3727636" cy="3272817"/>
            <a:chOff x="0" y="0"/>
            <a:chExt cx="3416064" cy="29992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16064" cy="2999260"/>
            </a:xfrm>
            <a:custGeom>
              <a:avLst/>
              <a:gdLst/>
              <a:ahLst/>
              <a:cxnLst/>
              <a:rect l="l" t="t" r="r" b="b"/>
              <a:pathLst>
                <a:path w="3416064" h="2999260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469975" y="2418576"/>
            <a:ext cx="2615286" cy="77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59"/>
              </a:lnSpc>
              <a:spcBef>
                <a:spcPct val="0"/>
              </a:spcBef>
            </a:pPr>
            <a:r>
              <a:rPr lang="en-US" sz="5499" spc="-225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FC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59916" y="3262474"/>
            <a:ext cx="3035405" cy="8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8"/>
              </a:lnSpc>
            </a:pPr>
            <a:r>
              <a:rPr lang="en-US" sz="5099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72 LPM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69975" y="6315214"/>
            <a:ext cx="2615286" cy="77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59"/>
              </a:lnSpc>
              <a:spcBef>
                <a:spcPct val="0"/>
              </a:spcBef>
            </a:pPr>
            <a:r>
              <a:rPr lang="en-US" sz="5499" spc="-225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TA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59916" y="7159112"/>
            <a:ext cx="3035405" cy="8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9"/>
              </a:lnSpc>
            </a:pPr>
            <a:r>
              <a:rPr lang="en-US" sz="51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120/70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64211" y="2418576"/>
            <a:ext cx="2615286" cy="77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59"/>
              </a:lnSpc>
              <a:spcBef>
                <a:spcPct val="0"/>
              </a:spcBef>
            </a:pPr>
            <a:r>
              <a:rPr lang="en-US" sz="5499" spc="-225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FR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54152" y="3262475"/>
            <a:ext cx="3035405" cy="8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9"/>
              </a:lnSpc>
            </a:pPr>
            <a:r>
              <a:rPr lang="en-US" sz="51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16 RPM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864211" y="6315214"/>
            <a:ext cx="2615286" cy="77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59"/>
              </a:lnSpc>
              <a:spcBef>
                <a:spcPct val="0"/>
              </a:spcBef>
            </a:pPr>
            <a:r>
              <a:rPr lang="en-US" sz="5499" spc="-225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SATO2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54152" y="7159112"/>
            <a:ext cx="3035405" cy="884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9"/>
              </a:lnSpc>
            </a:pPr>
            <a:r>
              <a:rPr lang="en-US" sz="5100" b="1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99% A/A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47167" y="3444532"/>
            <a:ext cx="5990273" cy="179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859"/>
              </a:lnSpc>
            </a:pPr>
            <a:r>
              <a:rPr lang="en-US" sz="6999" b="1" spc="-321" dirty="0">
                <a:solidFill>
                  <a:srgbClr val="156669"/>
                </a:solidFill>
                <a:latin typeface="Raleway Bold"/>
                <a:ea typeface="Raleway Bold"/>
                <a:cs typeface="Raleway Bold"/>
                <a:sym typeface="Raleway Bold"/>
              </a:rPr>
              <a:t>EXAMEN FISICO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47167" y="5741554"/>
            <a:ext cx="3394541" cy="1350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699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PESO: 72,500 KG</a:t>
            </a:r>
          </a:p>
          <a:p>
            <a:pPr algn="l">
              <a:lnSpc>
                <a:spcPts val="3482"/>
              </a:lnSpc>
            </a:pPr>
            <a:r>
              <a:rPr lang="en-US" sz="2699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TALLA: 1,53 MTS</a:t>
            </a:r>
          </a:p>
          <a:p>
            <a:pPr marL="0" lvl="0" indent="0" algn="l">
              <a:lnSpc>
                <a:spcPts val="3482"/>
              </a:lnSpc>
            </a:pPr>
            <a:r>
              <a:rPr lang="en-US" sz="2699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IMC: 32,55 KG/M2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0063" y="873833"/>
            <a:ext cx="5990273" cy="169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39"/>
              </a:lnSpc>
            </a:pPr>
            <a:r>
              <a:rPr lang="en-US" sz="6999" b="1" spc="-321" dirty="0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EXAMEN FISICO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13408" y="-1239070"/>
            <a:ext cx="10596480" cy="12765139"/>
            <a:chOff x="0" y="0"/>
            <a:chExt cx="2000630" cy="24100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00630" cy="2410076"/>
            </a:xfrm>
            <a:custGeom>
              <a:avLst/>
              <a:gdLst/>
              <a:ahLst/>
              <a:cxnLst/>
              <a:rect l="l" t="t" r="r" b="b"/>
              <a:pathLst>
                <a:path w="2000630" h="2410076">
                  <a:moveTo>
                    <a:pt x="17535" y="0"/>
                  </a:moveTo>
                  <a:lnTo>
                    <a:pt x="1983096" y="0"/>
                  </a:lnTo>
                  <a:cubicBezTo>
                    <a:pt x="1992780" y="0"/>
                    <a:pt x="2000630" y="7851"/>
                    <a:pt x="2000630" y="17535"/>
                  </a:cubicBezTo>
                  <a:lnTo>
                    <a:pt x="2000630" y="2392542"/>
                  </a:lnTo>
                  <a:cubicBezTo>
                    <a:pt x="2000630" y="2397192"/>
                    <a:pt x="1998783" y="2401652"/>
                    <a:pt x="1995495" y="2404941"/>
                  </a:cubicBezTo>
                  <a:cubicBezTo>
                    <a:pt x="1992206" y="2408229"/>
                    <a:pt x="1987746" y="2410076"/>
                    <a:pt x="1983096" y="2410076"/>
                  </a:cubicBezTo>
                  <a:lnTo>
                    <a:pt x="17535" y="2410076"/>
                  </a:lnTo>
                  <a:cubicBezTo>
                    <a:pt x="12884" y="2410076"/>
                    <a:pt x="8424" y="2408229"/>
                    <a:pt x="5136" y="2404941"/>
                  </a:cubicBezTo>
                  <a:cubicBezTo>
                    <a:pt x="1847" y="2401652"/>
                    <a:pt x="0" y="2397192"/>
                    <a:pt x="0" y="2392542"/>
                  </a:cubicBezTo>
                  <a:lnTo>
                    <a:pt x="0" y="17535"/>
                  </a:lnTo>
                  <a:cubicBezTo>
                    <a:pt x="0" y="12884"/>
                    <a:pt x="1847" y="8424"/>
                    <a:pt x="5136" y="5136"/>
                  </a:cubicBezTo>
                  <a:cubicBezTo>
                    <a:pt x="8424" y="1847"/>
                    <a:pt x="12884" y="0"/>
                    <a:pt x="17535" y="0"/>
                  </a:cubicBezTo>
                  <a:close/>
                </a:path>
              </a:pathLst>
            </a:custGeom>
            <a:solidFill>
              <a:srgbClr val="FBF6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00630" cy="244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1355380" y="-1414723"/>
            <a:ext cx="0" cy="13116447"/>
          </a:xfrm>
          <a:prstGeom prst="line">
            <a:avLst/>
          </a:prstGeom>
          <a:ln w="47625" cap="flat">
            <a:solidFill>
              <a:srgbClr val="15666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VE"/>
          </a:p>
        </p:txBody>
      </p:sp>
      <p:grpSp>
        <p:nvGrpSpPr>
          <p:cNvPr id="7" name="Group 7"/>
          <p:cNvGrpSpPr/>
          <p:nvPr/>
        </p:nvGrpSpPr>
        <p:grpSpPr>
          <a:xfrm>
            <a:off x="11258857" y="1795647"/>
            <a:ext cx="193045" cy="19304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6669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932842" y="703282"/>
            <a:ext cx="5019654" cy="85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5129" b="1" spc="138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TORAX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32842" y="1738497"/>
            <a:ext cx="5019654" cy="97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34"/>
              </a:lnSpc>
            </a:pPr>
            <a:r>
              <a:rPr lang="en-US" sz="1381" b="1" spc="82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SIMÉTRICO, NORMOEXPANSIB</a:t>
            </a:r>
            <a:r>
              <a:rPr lang="en-US" sz="1381" b="1" u="none" spc="82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LE, RUIDOS CARDÍACOS RÍTMICOS, SIN SOPLOS AUSCULTABLES, RUIDOS RESPIRATORIOS AUDIBLES DISMINUIDOS EN BASE PULMONAR DERECHA.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32842" y="3170746"/>
            <a:ext cx="5019654" cy="85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5129" b="1" spc="138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ABDOMEN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32842" y="4046959"/>
            <a:ext cx="5019654" cy="120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34"/>
              </a:lnSpc>
            </a:pPr>
            <a:r>
              <a:rPr lang="es-MX" sz="1381" b="1" spc="82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GLOBOSO POR PANICULO ADIPOSO. CICATRIZ OPERATORIA TIPO MEDIANA INFRAUMBILICAL ISOCROMICA CON RESPECTO A LA PIEL. RUIDOS HIDROAEREOS PRESENTES. BLANDO. DEPRESIBLE. NO DOLOROSO A LA PALPACIÓN.</a:t>
            </a:r>
            <a:endParaRPr lang="en-US" sz="1381" b="1" spc="82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932842" y="5709350"/>
            <a:ext cx="5019654" cy="83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029" b="1" spc="135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EXTREMIDADES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32842" y="6833252"/>
            <a:ext cx="5019654" cy="260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4"/>
              </a:lnSpc>
            </a:pPr>
            <a:r>
              <a:rPr lang="en-US" sz="1381" b="1" spc="82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SIMETRICAS, MOVILES, SIN EDEMAS.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258857" y="4391902"/>
            <a:ext cx="193045" cy="19304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6669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258857" y="6991914"/>
            <a:ext cx="193045" cy="19304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6669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932842" y="7737015"/>
            <a:ext cx="5019654" cy="83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029" b="1" spc="135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NEUROLOGICO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32842" y="8753053"/>
            <a:ext cx="5019654" cy="49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34"/>
              </a:lnSpc>
            </a:pPr>
            <a:r>
              <a:rPr lang="en-US" sz="1381" b="1" spc="82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CONSCIENTE, ORIENTADO EN TIEMPO, ESPACIO Y PERSONA.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1488" y="4310736"/>
            <a:ext cx="5019654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5129" b="1" spc="138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CUELLO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0063" y="5285284"/>
            <a:ext cx="8303630" cy="3606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200000"/>
              </a:lnSpc>
            </a:pPr>
            <a:r>
              <a:rPr lang="es-MX" sz="2000" b="1" spc="100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CILINDRICO, CENTRADO, BOCIO CON LOBULO DERECHO AUMENTADO DE TAMAÑO DE APROXIMADAMENTE 15X4CM, CONSISTENCIA DURA, NO ADHERERIDO A PLANOS PROFUNDOS; LOBULO IZQUIERDO DE 7X4CM APROXIMAMDENTE, SIN NODULOS DOMINANTES NI ADENOPATIAS.</a:t>
            </a:r>
            <a:endParaRPr lang="en-US" sz="2000" b="1" spc="100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1207" y="679615"/>
            <a:ext cx="15623137" cy="8927770"/>
            <a:chOff x="0" y="0"/>
            <a:chExt cx="6348234" cy="3627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8234" cy="3627669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08024" y="1140484"/>
            <a:ext cx="14341299" cy="7902437"/>
            <a:chOff x="0" y="0"/>
            <a:chExt cx="5827378" cy="3211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ECF6F3E5-5ADE-269A-4BE9-0AD0B59A8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23606"/>
              </p:ext>
            </p:extLst>
          </p:nvPr>
        </p:nvGraphicFramePr>
        <p:xfrm>
          <a:off x="2369785" y="3009900"/>
          <a:ext cx="13817776" cy="511048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454444">
                  <a:extLst>
                    <a:ext uri="{9D8B030D-6E8A-4147-A177-3AD203B41FA5}">
                      <a16:colId xmlns:a16="http://schemas.microsoft.com/office/drawing/2014/main" val="2166100492"/>
                    </a:ext>
                  </a:extLst>
                </a:gridCol>
                <a:gridCol w="3454444">
                  <a:extLst>
                    <a:ext uri="{9D8B030D-6E8A-4147-A177-3AD203B41FA5}">
                      <a16:colId xmlns:a16="http://schemas.microsoft.com/office/drawing/2014/main" val="4001356423"/>
                    </a:ext>
                  </a:extLst>
                </a:gridCol>
                <a:gridCol w="3454444">
                  <a:extLst>
                    <a:ext uri="{9D8B030D-6E8A-4147-A177-3AD203B41FA5}">
                      <a16:colId xmlns:a16="http://schemas.microsoft.com/office/drawing/2014/main" val="1426145597"/>
                    </a:ext>
                  </a:extLst>
                </a:gridCol>
                <a:gridCol w="3454444">
                  <a:extLst>
                    <a:ext uri="{9D8B030D-6E8A-4147-A177-3AD203B41FA5}">
                      <a16:colId xmlns:a16="http://schemas.microsoft.com/office/drawing/2014/main" val="740699301"/>
                    </a:ext>
                  </a:extLst>
                </a:gridCol>
              </a:tblGrid>
              <a:tr h="730069">
                <a:tc gridSpan="4"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Raleway Semi-Bold" panose="020B0604020202020204" charset="0"/>
                        </a:rPr>
                        <a:t>04/09/2026</a:t>
                      </a:r>
                      <a:endParaRPr lang="es-VE" sz="2800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927486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HGB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13,2 GR/DL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GLICEMIA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94 MG/DL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431208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HCT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39,3%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UREA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20,6 MG/DL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230413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WBC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6,300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CREATININA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0,75 MG/DL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192841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SEG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55,4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HIV</a:t>
                      </a:r>
                    </a:p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VDRL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NO REACTIVO</a:t>
                      </a:r>
                    </a:p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NO REACTIVO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373394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LINF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37,1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TP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1,01 SEG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474392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PLT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226,000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TPT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0,1 SEG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6729141"/>
                  </a:ext>
                </a:extLst>
              </a:tr>
            </a:tbl>
          </a:graphicData>
        </a:graphic>
      </p:graphicFrame>
      <p:sp>
        <p:nvSpPr>
          <p:cNvPr id="11" name="TextBox 2">
            <a:extLst>
              <a:ext uri="{FF2B5EF4-FFF2-40B4-BE49-F238E27FC236}">
                <a16:creationId xmlns:a16="http://schemas.microsoft.com/office/drawing/2014/main" id="{E2E15323-0E5F-F984-994D-CB6D793D2115}"/>
              </a:ext>
            </a:extLst>
          </p:cNvPr>
          <p:cNvSpPr txBox="1"/>
          <p:nvPr/>
        </p:nvSpPr>
        <p:spPr>
          <a:xfrm>
            <a:off x="2369785" y="1751471"/>
            <a:ext cx="13817776" cy="830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6439"/>
              </a:lnSpc>
            </a:pPr>
            <a:r>
              <a:rPr lang="en-US" sz="6999" b="1" spc="-321" dirty="0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LABORATORIOS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202B7-3A05-9367-2F8E-834F765B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73EE40-3041-8A03-E6B6-0D029B3C9FD1}"/>
              </a:ext>
            </a:extLst>
          </p:cNvPr>
          <p:cNvGrpSpPr/>
          <p:nvPr/>
        </p:nvGrpSpPr>
        <p:grpSpPr>
          <a:xfrm>
            <a:off x="304800" y="287634"/>
            <a:ext cx="17602200" cy="9524999"/>
            <a:chOff x="-306948" y="-136819"/>
            <a:chExt cx="6655183" cy="37644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86A8D5-A0C4-9915-564E-09CC86960ECA}"/>
                </a:ext>
              </a:extLst>
            </p:cNvPr>
            <p:cNvSpPr/>
            <p:nvPr/>
          </p:nvSpPr>
          <p:spPr>
            <a:xfrm>
              <a:off x="-306948" y="-136819"/>
              <a:ext cx="6655183" cy="3764488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B3358A-A1AC-5772-5AEF-CA6FD16E75EE}"/>
                </a:ext>
              </a:extLst>
            </p:cNvPr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05451D3-A824-A975-B2B7-97CCFAF9EF6F}"/>
              </a:ext>
            </a:extLst>
          </p:cNvPr>
          <p:cNvGrpSpPr/>
          <p:nvPr/>
        </p:nvGrpSpPr>
        <p:grpSpPr>
          <a:xfrm>
            <a:off x="587471" y="576974"/>
            <a:ext cx="16992600" cy="8946318"/>
            <a:chOff x="0" y="0"/>
            <a:chExt cx="5827378" cy="321104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49F86E3-A85C-A7AA-DDE9-4F831E594C4D}"/>
                </a:ext>
              </a:extLst>
            </p:cNvPr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E760D46-69EB-0354-2CA5-DED959627C55}"/>
                </a:ext>
              </a:extLst>
            </p:cNvPr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F5FD16D-0022-45A3-F8FB-2A68A1798B05}"/>
              </a:ext>
            </a:extLst>
          </p:cNvPr>
          <p:cNvSpPr txBox="1"/>
          <p:nvPr/>
        </p:nvSpPr>
        <p:spPr>
          <a:xfrm>
            <a:off x="587474" y="2171700"/>
            <a:ext cx="16764000" cy="6877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2" lvl="1" indent="-345436" algn="just">
              <a:lnSpc>
                <a:spcPct val="150000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LOBULO DERECHO: </a:t>
            </a:r>
            <a:r>
              <a:rPr lang="es-MX" sz="2000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DE TAMAÑO Y VOLUMEN AUMENTADO PARENQUIMA HETEROGENEO DE CRECIMIENTO MULTINODULAR CON MULTIPLES IMÁGENES HIPOECOICAS Y ANECOICAS EN SU INTERIOR CON AUMENTO DE SU VASCULARIDAD AL DOPPLER COLOR MIDE 5,2 X 3,5 X 3,7cm.</a:t>
            </a:r>
          </a:p>
          <a:p>
            <a:pPr marL="690872" lvl="1" indent="-345436" algn="just">
              <a:lnSpc>
                <a:spcPct val="150000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LOBULO IZQUIERDO: </a:t>
            </a:r>
            <a:r>
              <a:rPr lang="es-MX" sz="2000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DE TAMAÑO CONSERVADO PARENQUIMA HETEROGENEO CON IMAGEN CALCIFICADA DE 0,4 CM E IMÁGENES HIPOECOICAS DE 0,3 CM CON VASCULARIDAD CONSERVADA MIDE 3,3 X 1,0 X 1,1 CM.</a:t>
            </a:r>
          </a:p>
          <a:p>
            <a:pPr marL="690872" lvl="1" indent="-345436" algn="just">
              <a:lnSpc>
                <a:spcPct val="150000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ITSMO: </a:t>
            </a:r>
            <a:r>
              <a:rPr lang="es-MX" sz="2000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DE TAMAÑO Y ECOGENICIDAD CONSERVADA MIDE 0,3CM.</a:t>
            </a:r>
          </a:p>
          <a:p>
            <a:pPr marL="690872" lvl="1" indent="-345436" algn="just">
              <a:lnSpc>
                <a:spcPct val="150000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NO SE VISUALIZAN GANGLIOS LINFATICOS AUMENTADOS DE TAMAÑO.</a:t>
            </a:r>
          </a:p>
          <a:p>
            <a:pPr marL="345436" lvl="1" algn="just">
              <a:lnSpc>
                <a:spcPct val="150000"/>
              </a:lnSpc>
            </a:pPr>
            <a:endParaRPr lang="es-MX" sz="2000" b="1" dirty="0">
              <a:solidFill>
                <a:srgbClr val="343434"/>
              </a:solidFill>
              <a:latin typeface="Adirek Sans Medium" panose="020B0604020202020204" charset="-34"/>
              <a:ea typeface="Inter Bold"/>
              <a:cs typeface="Adirek Sans Medium" panose="020B0604020202020204" charset="-34"/>
              <a:sym typeface="Inter Bold"/>
            </a:endParaRPr>
          </a:p>
          <a:p>
            <a:pPr marL="345436" lvl="1" algn="just">
              <a:lnSpc>
                <a:spcPts val="4127"/>
              </a:lnSpc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CONCLUSIÓN:</a:t>
            </a:r>
          </a:p>
          <a:p>
            <a:pPr marL="802636" lvl="1" indent="-457200" algn="just">
              <a:lnSpc>
                <a:spcPts val="4127"/>
              </a:lnSpc>
              <a:buAutoNum type="arabicPeriod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TIROIDES ASIMETRICA CON CAMBIOS HIPERPLASICOS EN LOBULO TIROIDEO DERECHO, BOCIO LOBULO TIROIDEO DERECHO A CORRELACIONAR CONEXAMENES COMPLEMENTARIOS.</a:t>
            </a:r>
          </a:p>
          <a:p>
            <a:pPr marL="802636" lvl="1" indent="-457200" algn="just">
              <a:lnSpc>
                <a:spcPts val="4127"/>
              </a:lnSpc>
              <a:buAutoNum type="arabicPeriod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NODULOS QUISTICOS Y CALCIFICADOS EN LOBULO TIROIDEO IZQUIERDO.</a:t>
            </a:r>
          </a:p>
          <a:p>
            <a:pPr marL="802636" lvl="1" indent="-457200" algn="just">
              <a:lnSpc>
                <a:spcPts val="4127"/>
              </a:lnSpc>
              <a:buAutoNum type="arabicPeriod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TI RADS 2.</a:t>
            </a:r>
            <a:endParaRPr lang="es-MX" sz="2000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45436" lvl="1" algn="just">
              <a:lnSpc>
                <a:spcPts val="4127"/>
              </a:lnSpc>
            </a:pPr>
            <a:endParaRPr lang="es-MX" sz="2000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45436" lvl="1" algn="ctr">
              <a:lnSpc>
                <a:spcPts val="4127"/>
              </a:lnSpc>
            </a:pPr>
            <a:endParaRPr lang="en-US" sz="3199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451BBD8-3850-73B9-F18D-16FCF4D2BE86}"/>
              </a:ext>
            </a:extLst>
          </p:cNvPr>
          <p:cNvSpPr txBox="1"/>
          <p:nvPr/>
        </p:nvSpPr>
        <p:spPr>
          <a:xfrm>
            <a:off x="2057400" y="1097280"/>
            <a:ext cx="14341298" cy="76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ESTUDIOS DE IMAGEN – ECOSONOGRAMA TIROIDEO</a:t>
            </a:r>
          </a:p>
        </p:txBody>
      </p:sp>
    </p:spTree>
    <p:extLst>
      <p:ext uri="{BB962C8B-B14F-4D97-AF65-F5344CB8AC3E}">
        <p14:creationId xmlns:p14="http://schemas.microsoft.com/office/powerpoint/2010/main" val="3724188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1207" y="679615"/>
            <a:ext cx="15623137" cy="8927770"/>
            <a:chOff x="0" y="0"/>
            <a:chExt cx="6348234" cy="3627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8234" cy="3627669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08024" y="1140484"/>
            <a:ext cx="14341299" cy="7902437"/>
            <a:chOff x="0" y="0"/>
            <a:chExt cx="5827378" cy="3211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06674" y="2883354"/>
            <a:ext cx="12492202" cy="571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7"/>
              </a:lnSpc>
            </a:pPr>
            <a:r>
              <a:rPr lang="en-US" sz="3199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ASA: II</a:t>
            </a:r>
          </a:p>
          <a:p>
            <a:pPr algn="ctr">
              <a:lnSpc>
                <a:spcPts val="4127"/>
              </a:lnSpc>
            </a:pPr>
            <a:r>
              <a:rPr lang="en-US" sz="3199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GOLDMAN: I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MONITOREO SERIADO NO INVASIVO DE SIGNOS VITALES.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MANTENGASE HITRATADA ENDOVENOSO EN 3 TIEMPOS QUIRURGICOS E INCLUSO PUEDE EXPANDIRSE.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INICIAR PROPANOLOL O ALGOREN 10 MG A MEDIA MAÑANA HASTA 5 DIAS POSOPERATORIO.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CLEXANE 40 MG SUBCUTANEO DESDE EL POSOPERATORIO MEDIATO Y CADA 24 HORAS LO QUE DURE SU INTERNACION.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ASEGURAR QUE AL MOMENTO DE LA INTERVENCION SE MUESTRE EUTIROIDEA CON TSH DENTRO DE VALORES REFERENCIALES.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RESTO INHERENTE AL USO DE DROGAS ANESTESICAS Y PROCEDER QUIRÚRGICO</a:t>
            </a:r>
            <a:endParaRPr lang="en-US" sz="2000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08025" y="1723189"/>
            <a:ext cx="14341298" cy="76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VALORACIÓN CARDIOVASCULAR PREOPRATORIA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7104" y="679615"/>
            <a:ext cx="15623137" cy="8927770"/>
            <a:chOff x="0" y="0"/>
            <a:chExt cx="6348234" cy="3627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8234" cy="3627669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08024" y="1140484"/>
            <a:ext cx="14341299" cy="7902437"/>
            <a:chOff x="0" y="0"/>
            <a:chExt cx="5827378" cy="3211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59197" y="3584823"/>
            <a:ext cx="13420779" cy="2943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27"/>
              </a:lnSpc>
            </a:pPr>
            <a:endParaRPr dirty="0"/>
          </a:p>
          <a:p>
            <a:pPr algn="just">
              <a:lnSpc>
                <a:spcPts val="4127"/>
              </a:lnSpc>
            </a:pPr>
            <a:endParaRPr dirty="0"/>
          </a:p>
          <a:p>
            <a:pPr marL="690872" lvl="1" indent="-345436" algn="l">
              <a:lnSpc>
                <a:spcPts val="7967"/>
              </a:lnSpc>
              <a:buAutoNum type="arabicPeriod"/>
            </a:pPr>
            <a:r>
              <a:rPr lang="es-MX" sz="3199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BOCIO MULTINODULAR HIPOFUNCIONANTE ACTUALMENTE COMPENSADO.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80504" y="3004741"/>
            <a:ext cx="13526991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DIAGNÓSTICOS DE INGRESO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1207" y="679615"/>
            <a:ext cx="15623137" cy="8927770"/>
            <a:chOff x="0" y="0"/>
            <a:chExt cx="6348234" cy="3627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8234" cy="3627669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49463" y="1192281"/>
            <a:ext cx="14341299" cy="7902437"/>
            <a:chOff x="0" y="0"/>
            <a:chExt cx="5827378" cy="3211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97898" y="5293921"/>
            <a:ext cx="12492202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6"/>
              </a:lnSpc>
            </a:pPr>
            <a:r>
              <a:rPr lang="en-US" sz="88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TIROIDECTOMIA TOTAL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80504" y="3307080"/>
            <a:ext cx="13526991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PLAN QUIRURGICO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</TotalTime>
  <Words>900</Words>
  <Application>Microsoft Office PowerPoint</Application>
  <PresentationFormat>Personalizado</PresentationFormat>
  <Paragraphs>148</Paragraphs>
  <Slides>20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0" baseType="lpstr">
      <vt:lpstr>Codec Pro</vt:lpstr>
      <vt:lpstr>Raleway Bold</vt:lpstr>
      <vt:lpstr>Arial</vt:lpstr>
      <vt:lpstr>Raleway Semi-Bold</vt:lpstr>
      <vt:lpstr>Codec Pro Bold</vt:lpstr>
      <vt:lpstr>Inter Bold</vt:lpstr>
      <vt:lpstr>Adirek Sans Medium</vt:lpstr>
      <vt:lpstr>Aptos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de Medicina Moderno Turquesa</dc:title>
  <dc:creator>Edgardo Caripas</dc:creator>
  <cp:lastModifiedBy>Edgardo Caripas</cp:lastModifiedBy>
  <cp:revision>6</cp:revision>
  <dcterms:created xsi:type="dcterms:W3CDTF">2006-08-16T00:00:00Z</dcterms:created>
  <dcterms:modified xsi:type="dcterms:W3CDTF">2026-06-25T05:22:31Z</dcterms:modified>
  <dc:identifier>DAHEWnM2v1o</dc:identifier>
</cp:coreProperties>
</file>